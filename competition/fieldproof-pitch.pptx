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49db537cfab4693" /><Relationship Type="http://schemas.openxmlformats.org/officeDocument/2006/relationships/extended-properties" Target="/docProps/app.xml" Id="R399ff8952ee44c3a" /><Relationship Type="http://schemas.openxmlformats.org/officeDocument/2006/relationships/officeDocument" Target="/ppt/presentation.xml" Id="R5ed388add163465f" /></Relationships>
</file>

<file path=ppt/presentation.xml><?xml version="1.0" encoding="utf-8"?>
<p:presentation xmlns:p="http://schemas.openxmlformats.org/presentationml/2006/main">
  <p:sldMasterIdLst>
    <p:sldMasterId xmlns:r="http://schemas.openxmlformats.org/officeDocument/2006/relationships" id="2147483648" r:id="R5e3e9016d05141af"/>
  </p:sldMasterIdLst>
  <p:notesMasterIdLst>
    <p:notesMasterId xmlns:r="http://schemas.openxmlformats.org/officeDocument/2006/relationships" r:id="R1ffac5f41aec41bd"/>
  </p:notesMasterIdLst>
  <p:sldIdLst>
    <p:sldId xmlns:r="http://schemas.openxmlformats.org/officeDocument/2006/relationships" id="256" r:id="Rddd7d392dd94452c"/>
    <p:sldId xmlns:r="http://schemas.openxmlformats.org/officeDocument/2006/relationships" id="257" r:id="R1fca12981e9e4765"/>
    <p:sldId xmlns:r="http://schemas.openxmlformats.org/officeDocument/2006/relationships" id="258" r:id="R7b8168d628d749e8"/>
    <p:sldId xmlns:r="http://schemas.openxmlformats.org/officeDocument/2006/relationships" id="259" r:id="R55c44a381eb24a77"/>
    <p:sldId xmlns:r="http://schemas.openxmlformats.org/officeDocument/2006/relationships" id="260" r:id="Ra2e1ae4c9f6046e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52eaaa4ce241be" /><Relationship Type="http://schemas.openxmlformats.org/officeDocument/2006/relationships/slideMaster" Target="/ppt/slideMasters/slideMaster1.xml" Id="R5e3e9016d05141af" /><Relationship Type="http://schemas.openxmlformats.org/officeDocument/2006/relationships/notesMaster" Target="/ppt/notesMasters/notesMaster1.xml" Id="R1ffac5f41aec41bd" /><Relationship Type="http://schemas.openxmlformats.org/officeDocument/2006/relationships/presProps" Target="/ppt/presProps.xml" Id="R829a1cdda9a7413f" /><Relationship Type="http://schemas.openxmlformats.org/officeDocument/2006/relationships/tableStyles" Target="/ppt/tableStyles.xml" Id="R55c5d3d448c34465" /><Relationship Type="http://schemas.openxmlformats.org/officeDocument/2006/relationships/slide" Target="/ppt/slides/slide1.xml" Id="Rddd7d392dd94452c" /><Relationship Type="http://schemas.openxmlformats.org/officeDocument/2006/relationships/slide" Target="/ppt/slides/slide2.xml" Id="R1fca12981e9e4765" /><Relationship Type="http://schemas.openxmlformats.org/officeDocument/2006/relationships/slide" Target="/ppt/slides/slide3.xml" Id="R7b8168d628d749e8" /><Relationship Type="http://schemas.openxmlformats.org/officeDocument/2006/relationships/slide" Target="/ppt/slides/slide4.xml" Id="R55c44a381eb24a77" /><Relationship Type="http://schemas.openxmlformats.org/officeDocument/2006/relationships/slide" Target="/ppt/slides/slide5.xml" Id="Ra2e1ae4c9f6046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c2e442c8d746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a3611e62814f79" /><Relationship Type="http://schemas.openxmlformats.org/officeDocument/2006/relationships/notesMaster" Target="/ppt/notesMasters/notesMaster1.xml" Id="Rb4684363066d4a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c711ec43f846d3" /><Relationship Type="http://schemas.openxmlformats.org/officeDocument/2006/relationships/notesMaster" Target="/ppt/notesMasters/notesMaster1.xml" Id="Rd77a224dc83442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0e909af5ed4fbe" /><Relationship Type="http://schemas.openxmlformats.org/officeDocument/2006/relationships/notesMaster" Target="/ppt/notesMasters/notesMaster1.xml" Id="R692a307ec9ad47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7d052e8c1143ea" /><Relationship Type="http://schemas.openxmlformats.org/officeDocument/2006/relationships/notesMaster" Target="/ppt/notesMasters/notesMaster1.xml" Id="R00168382934f4c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026f5ea30a45e5" /><Relationship Type="http://schemas.openxmlformats.org/officeDocument/2006/relationships/notesMaster" Target="/ppt/notesMasters/notesMaster1.xml" Id="R6d3a1808b29444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source: docs/competition/slides.html. Implementation and evidence: docs/VERIFICATION.md and docs/evidence/device-signed-purchase-20261011.json. Buyer value and commercial pricing are hypotheses. The Solana transaction uses test tokens. Real Agung identity and native Storage work readbacks passed on October 12. No EventRegistry event or credit rating is claimed. Slide 1 of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source: docs/competition/slides.html. Implementation and evidence: docs/VERIFICATION.md and docs/evidence/device-signed-purchase-20261011.json. Buyer value and commercial pricing are hypotheses. The Solana transaction uses test tokens. Real Agung identity and native Storage work readbacks passed on October 12. No EventRegistry event or credit rating is claimed. Slide 2 of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source: docs/competition/slides.html. Implementation and evidence: docs/VERIFICATION.md and docs/evidence/device-signed-purchase-20261011.json. Buyer value and commercial pricing are hypotheses. The Solana transaction uses test tokens. Real Agung identity and native Storage work readbacks passed on October 12. No EventRegistry event or credit rating is claimed. Slide 3 of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source: docs/competition/slides.html. Implementation and evidence: docs/VERIFICATION.md and docs/evidence/device-signed-purchase-20261011.json. Buyer value and commercial pricing are hypotheses. The Solana transaction uses test tokens. Real Agung identity and native Storage work readbacks passed on October 12. No EventRegistry event or credit rating is claimed. Slide 4 of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source: docs/competition/slides.html. Implementation and evidence: docs/VERIFICATION.md and docs/evidence/device-signed-purchase-20261011.json. Buyer value and commercial pricing are hypotheses. The Solana transaction uses test tokens. Real Agung identity and native Storage work readbacks passed on October 12. No EventRegistry event or credit rating is claimed. Slide 5 of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c0fa5d3f7d4b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88e12735ca4ad1" /><Relationship Type="http://schemas.openxmlformats.org/officeDocument/2006/relationships/slideLayout" Target="/ppt/slideLayouts/slideLayout1.xml" Id="R043c941cac0c4f8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3c941cac0c4f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fe8e07d3e6344c2" /><Relationship Type="http://schemas.openxmlformats.org/officeDocument/2006/relationships/image" Target="/ppt/media/image.png" Id="Rce9f1a99adde4235" /><Relationship Type="http://schemas.openxmlformats.org/officeDocument/2006/relationships/notesSlide" Target="/ppt/notesSlides/notesSlide1.xml" Id="R1f15958f92a344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e7503eb644c4297" /><Relationship Type="http://schemas.openxmlformats.org/officeDocument/2006/relationships/notesSlide" Target="/ppt/notesSlides/notesSlide2.xml" Id="R14d7480f6f3f4f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b1a5d9e2394d1c" /><Relationship Type="http://schemas.openxmlformats.org/officeDocument/2006/relationships/notesSlide" Target="/ppt/notesSlides/notesSlide3.xml" Id="R77821b650a9745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948f82ee544771" /><Relationship Type="http://schemas.openxmlformats.org/officeDocument/2006/relationships/notesSlide" Target="/ppt/notesSlides/notesSlide4.xml" Id="R691d2a0b37a1420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208b09467d54eda" /><Relationship Type="http://schemas.openxmlformats.org/officeDocument/2006/relationships/notesSlide" Target="/ppt/notesSlides/notesSlide5.xml" Id="R09229604b7284f8e" /></Relationships>
</file>

<file path=ppt/slides/slide1.xml><?xml version="1.0" encoding="utf-8"?>
<p:sld xmlns:p="http://schemas.openxmlformats.org/presentationml/2006/main">
  <p:cSld>
    <p:bg>
      <p:bgPr>
        <a:solidFill xmlns:a="http://schemas.openxmlformats.org/drawingml/2006/main">
          <a:srgbClr val="F4FA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A8DFB1-E5CA-4677-8019-928C3D8049FE}"/>
              </a:ext>
            </a:extLst>
          </p:cNvPr>
          <p:cNvSpPr>
            <a:spLocks xmlns:a="http://schemas.openxmlformats.org/drawingml/2006/main" noGrp="1"/>
          </p:cNvSpPr>
          <p:nvPr/>
        </p:nvSpPr>
        <p:spPr>
          <a:xfrm xmlns:a="http://schemas.openxmlformats.org/drawingml/2006/main">
            <a:off x="685800" y="457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450" b="1">
                <a:solidFill>
                  <a:srgbClr val="17364D"/>
                </a:solidFill>
                <a:latin typeface="Liberation Sans"/>
                <a:ea typeface="Liberation Sans"/>
                <a:cs typeface="Liberation Sans"/>
              </a:defRPr>
            </a:pPr>
            <a:r>
              <a:rPr sz="3450" b="1">
                <a:solidFill>
                  <a:srgbClr val="17364D"/>
                </a:solidFill>
                <a:latin typeface="Liberation Sans"/>
                <a:ea typeface="Liberation Sans"/>
                <a:cs typeface="Liberation Sans"/>
              </a:rPr>
              <a:t>FieldProof</a:t>
            </a:r>
          </a:p>
        </p:txBody>
      </p:sp>
      <p:sp>
        <p:nvSpPr>
          <p:cNvPr id="2" name="">
            <a:extLst xmlns:a="http://schemas.openxmlformats.org/drawingml/2006/main">
              <a:ext uri="{FF2B5EF4-FFF2-40B4-BE49-F238E27FC236}">
                <a16:creationId xmlns:a16="http://schemas.microsoft.com/office/drawing/2014/main" id="{9F6C66BA-CEC1-4E06-A466-190FF9C95A15}"/>
              </a:ext>
            </a:extLst>
          </p:cNvPr>
          <p:cNvSpPr>
            <a:spLocks xmlns:a="http://schemas.openxmlformats.org/drawingml/2006/main" noGrp="1"/>
          </p:cNvSpPr>
          <p:nvPr/>
        </p:nvSpPr>
        <p:spPr>
          <a:xfrm xmlns:a="http://schemas.openxmlformats.org/drawingml/2006/main">
            <a:off x="685800" y="1752600"/>
            <a:ext cx="7810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150" b="1">
                <a:solidFill>
                  <a:srgbClr val="126C97"/>
                </a:solidFill>
                <a:latin typeface="Liberation Sans"/>
                <a:ea typeface="Liberation Sans"/>
                <a:cs typeface="Liberation Sans"/>
              </a:defRPr>
            </a:pPr>
            <a:r>
              <a:rPr sz="3150" b="1">
                <a:solidFill>
                  <a:srgbClr val="126C97"/>
                </a:solidFill>
                <a:latin typeface="Liberation Sans"/>
                <a:ea typeface="Liberation Sans"/>
                <a:cs typeface="Liberation Sans"/>
              </a:rPr>
              <a:t>Software pays for a fresh physical check.</a:t>
            </a:r>
          </a:p>
        </p:txBody>
      </p:sp>
      <p:sp>
        <p:nvSpPr>
          <p:cNvPr id="3" name="">
            <a:extLst xmlns:a="http://schemas.openxmlformats.org/drawingml/2006/main">
              <a:ext uri="{FF2B5EF4-FFF2-40B4-BE49-F238E27FC236}">
                <a16:creationId xmlns:a16="http://schemas.microsoft.com/office/drawing/2014/main" id="{87EE48BF-3467-4654-AF69-8F6ECAE1E0FB}"/>
              </a:ext>
            </a:extLst>
          </p:cNvPr>
          <p:cNvSpPr>
            <a:spLocks xmlns:a="http://schemas.openxmlformats.org/drawingml/2006/main" noGrp="1"/>
          </p:cNvSpPr>
          <p:nvPr/>
        </p:nvSpPr>
        <p:spPr>
          <a:xfrm xmlns:a="http://schemas.openxmlformats.org/drawingml/2006/main">
            <a:off x="685800" y="3333750"/>
            <a:ext cx="80962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250" b="0">
                <a:solidFill>
                  <a:srgbClr val="17364D"/>
                </a:solidFill>
                <a:latin typeface="Liberation Sans"/>
                <a:ea typeface="Liberation Sans"/>
                <a:cs typeface="Liberation Sans"/>
              </a:defRPr>
            </a:pPr>
            <a:r>
              <a:rPr sz="2250" b="0">
                <a:solidFill>
                  <a:srgbClr val="17364D"/>
                </a:solidFill>
                <a:latin typeface="Liberation Sans"/>
                <a:ea typeface="Liberation Sans"/>
                <a:cs typeface="Liberation Sans"/>
              </a:rPr>
              <a:t>The device signs its answer. The buyer verifies who answered and whether the answer is still fresh.</a:t>
            </a:r>
          </a:p>
        </p:txBody>
      </p:sp>
      <p:sp>
        <p:nvSpPr>
          <p:cNvPr id="4" name="">
            <a:extLst xmlns:a="http://schemas.openxmlformats.org/drawingml/2006/main">
              <a:ext uri="{FF2B5EF4-FFF2-40B4-BE49-F238E27FC236}">
                <a16:creationId xmlns:a16="http://schemas.microsoft.com/office/drawing/2014/main" id="{A514202E-96DB-4A1D-8BB1-1487138184E8}"/>
              </a:ext>
            </a:extLst>
          </p:cNvPr>
          <p:cNvSpPr>
            <a:spLocks xmlns:a="http://schemas.openxmlformats.org/drawingml/2006/main" noGrp="1"/>
          </p:cNvSpPr>
          <p:nvPr/>
        </p:nvSpPr>
        <p:spPr>
          <a:xfrm xmlns:a="http://schemas.openxmlformats.org/drawingml/2006/main">
            <a:off x="685800" y="525780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725" b="0">
                <a:solidFill>
                  <a:srgbClr val="536D80"/>
                </a:solidFill>
                <a:latin typeface="Liberation Sans"/>
                <a:ea typeface="Liberation Sans"/>
                <a:cs typeface="Liberation Sans"/>
              </a:defRPr>
            </a:pPr>
            <a:r>
              <a:rPr sz="1725" b="0">
                <a:solidFill>
                  <a:srgbClr val="536D80"/>
                </a:solidFill>
                <a:latin typeface="Liberation Sans"/>
                <a:ea typeface="Liberation Sans"/>
                <a:cs typeface="Liberation Sans"/>
              </a:rPr>
              <a:t>Working prototype: ESP32-C6 and Solana Devnet.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e9f1a99adde4235"/>
          <a:stretch xmlns:a="http://schemas.openxmlformats.org/drawingml/2006/main"/>
        </p:blipFill>
        <p:spPr>
          <a:xfrm xmlns:a="http://schemas.openxmlformats.org/drawingml/2006/main">
            <a:off x="9144000" y="2000250"/>
            <a:ext cx="2381250" cy="2381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C164124-A2BF-46C2-B731-ACE2E8C84775}"/>
              </a:ext>
            </a:extLst>
          </p:cNvPr>
          <p:cNvSpPr>
            <a:spLocks xmlns:a="http://schemas.openxmlformats.org/drawingml/2006/main" noGrp="1"/>
          </p:cNvSpPr>
          <p:nvPr/>
        </p:nvSpPr>
        <p:spPr>
          <a:xfrm xmlns:a="http://schemas.openxmlformats.org/drawingml/2006/main">
            <a:off x="685800" y="627697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350" b="0">
                <a:solidFill>
                  <a:srgbClr val="536D80"/>
                </a:solidFill>
                <a:latin typeface="Liberation Sans"/>
                <a:ea typeface="Liberation Sans"/>
                <a:cs typeface="Liberation Sans"/>
              </a:defRPr>
            </a:pPr>
            <a:r>
              <a:rPr sz="1350" b="0">
                <a:solidFill>
                  <a:srgbClr val="536D80"/>
                </a:solidFill>
                <a:latin typeface="Liberation Sans"/>
                <a:ea typeface="Liberation Sans"/>
                <a:cs typeface="Liberation Sans"/>
              </a:rPr>
              <a:t>01 / A signature identifies the claim’s source. Physical truth needs separate controls.</a:t>
            </a:r>
          </a:p>
        </p:txBody>
      </p:sp>
    </p:spTree>
    <p:extLst>
      <p:ext uri="{BB962C8B-B14F-4D97-AF65-F5344CB8AC3E}">
        <p14:creationId xmlns:p14="http://schemas.microsoft.com/office/powerpoint/2010/main" val="1400951751"/>
      </p:ext>
    </p:extLst>
  </p:cSld>
</p:sld>
</file>

<file path=ppt/slides/slide2.xml><?xml version="1.0" encoding="utf-8"?>
<p:sld xmlns:p="http://schemas.openxmlformats.org/presentationml/2006/main">
  <p:cSld>
    <p:bg>
      <p:bgPr>
        <a:solidFill xmlns:a="http://schemas.openxmlformats.org/drawingml/2006/main">
          <a:srgbClr val="F4FA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26C400-F500-4BB9-A44B-5F491EF4682A}"/>
              </a:ext>
            </a:extLst>
          </p:cNvPr>
          <p:cNvSpPr>
            <a:spLocks xmlns:a="http://schemas.openxmlformats.org/drawingml/2006/main" noGrp="1"/>
          </p:cNvSpPr>
          <p:nvPr/>
        </p:nvSpPr>
        <p:spPr>
          <a:xfrm xmlns:a="http://schemas.openxmlformats.org/drawingml/2006/main">
            <a:off x="685800" y="457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450" b="1">
                <a:solidFill>
                  <a:srgbClr val="17364D"/>
                </a:solidFill>
                <a:latin typeface="Liberation Sans"/>
                <a:ea typeface="Liberation Sans"/>
                <a:cs typeface="Liberation Sans"/>
              </a:defRPr>
            </a:pPr>
            <a:r>
              <a:rPr sz="3450" b="1">
                <a:solidFill>
                  <a:srgbClr val="17364D"/>
                </a:solidFill>
                <a:latin typeface="Liberation Sans"/>
                <a:ea typeface="Liberation Sans"/>
                <a:cs typeface="Liberation Sans"/>
              </a:rPr>
              <a:t>A remote inspection before a decision</a:t>
            </a:r>
          </a:p>
        </p:txBody>
      </p:sp>
      <p:sp>
        <p:nvSpPr>
          <p:cNvPr id="2" name="">
            <a:extLst xmlns:a="http://schemas.openxmlformats.org/drawingml/2006/main">
              <a:ext uri="{FF2B5EF4-FFF2-40B4-BE49-F238E27FC236}">
                <a16:creationId xmlns:a16="http://schemas.microsoft.com/office/drawing/2014/main" id="{347A121C-8D91-46A8-A663-BAA8EB4366AD}"/>
              </a:ext>
            </a:extLst>
          </p:cNvPr>
          <p:cNvSpPr>
            <a:spLocks xmlns:a="http://schemas.openxmlformats.org/drawingml/2006/main" noGrp="1"/>
          </p:cNvSpPr>
          <p:nvPr/>
        </p:nvSpPr>
        <p:spPr>
          <a:xfrm xmlns:a="http://schemas.openxmlformats.org/drawingml/2006/main">
            <a:off x="68580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Target workflow</a:t>
            </a:r>
          </a:p>
        </p:txBody>
      </p:sp>
      <p:sp>
        <p:nvSpPr>
          <p:cNvPr id="3" name="">
            <a:extLst xmlns:a="http://schemas.openxmlformats.org/drawingml/2006/main">
              <a:ext uri="{FF2B5EF4-FFF2-40B4-BE49-F238E27FC236}">
                <a16:creationId xmlns:a16="http://schemas.microsoft.com/office/drawing/2014/main" id="{D6B07CFF-45EE-4C80-9A47-A90618F96DBA}"/>
              </a:ext>
            </a:extLst>
          </p:cNvPr>
          <p:cNvSpPr>
            <a:spLocks xmlns:a="http://schemas.openxmlformats.org/drawingml/2006/main" noGrp="1"/>
          </p:cNvSpPr>
          <p:nvPr/>
        </p:nvSpPr>
        <p:spPr>
          <a:xfrm xmlns:a="http://schemas.openxmlformats.org/drawingml/2006/main">
            <a:off x="68580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An operator pays someone to check a physical fact at another site.</a:t>
            </a:r>
          </a:p>
        </p:txBody>
      </p:sp>
      <p:sp>
        <p:nvSpPr>
          <p:cNvPr id="4" name="">
            <a:extLst xmlns:a="http://schemas.openxmlformats.org/drawingml/2006/main">
              <a:ext uri="{FF2B5EF4-FFF2-40B4-BE49-F238E27FC236}">
                <a16:creationId xmlns:a16="http://schemas.microsoft.com/office/drawing/2014/main" id="{A4B86E51-DE71-4915-AF2D-4D20ADCAC2A1}"/>
              </a:ext>
            </a:extLst>
          </p:cNvPr>
          <p:cNvSpPr>
            <a:spLocks xmlns:a="http://schemas.openxmlformats.org/drawingml/2006/main" noGrp="1"/>
          </p:cNvSpPr>
          <p:nvPr/>
        </p:nvSpPr>
        <p:spPr>
          <a:xfrm xmlns:a="http://schemas.openxmlformats.org/drawingml/2006/main">
            <a:off x="68580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Its software lacks a reliable answer from an existing API.</a:t>
            </a:r>
          </a:p>
        </p:txBody>
      </p:sp>
      <p:sp>
        <p:nvSpPr>
          <p:cNvPr id="5" name="">
            <a:extLst xmlns:a="http://schemas.openxmlformats.org/drawingml/2006/main">
              <a:ext uri="{FF2B5EF4-FFF2-40B4-BE49-F238E27FC236}">
                <a16:creationId xmlns:a16="http://schemas.microsoft.com/office/drawing/2014/main" id="{C370338D-7AB0-42FE-B2DA-C4E22EA8733F}"/>
              </a:ext>
            </a:extLst>
          </p:cNvPr>
          <p:cNvSpPr>
            <a:spLocks xmlns:a="http://schemas.openxmlformats.org/drawingml/2006/main" noGrp="1"/>
          </p:cNvSpPr>
          <p:nvPr/>
        </p:nvSpPr>
        <p:spPr>
          <a:xfrm xmlns:a="http://schemas.openxmlformats.org/drawingml/2006/main">
            <a:off x="649605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FieldProof proposal</a:t>
            </a:r>
          </a:p>
        </p:txBody>
      </p:sp>
      <p:sp>
        <p:nvSpPr>
          <p:cNvPr id="6" name="">
            <a:extLst xmlns:a="http://schemas.openxmlformats.org/drawingml/2006/main">
              <a:ext uri="{FF2B5EF4-FFF2-40B4-BE49-F238E27FC236}">
                <a16:creationId xmlns:a16="http://schemas.microsoft.com/office/drawing/2014/main" id="{B48DD837-1430-4117-BDA6-4520BAADA121}"/>
              </a:ext>
            </a:extLst>
          </p:cNvPr>
          <p:cNvSpPr>
            <a:spLocks xmlns:a="http://schemas.openxmlformats.org/drawingml/2006/main" noGrp="1"/>
          </p:cNvSpPr>
          <p:nvPr/>
        </p:nvSpPr>
        <p:spPr>
          <a:xfrm xmlns:a="http://schemas.openxmlformats.org/drawingml/2006/main">
            <a:off x="649605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Commission one check from a device already on site.</a:t>
            </a:r>
          </a:p>
        </p:txBody>
      </p:sp>
      <p:sp>
        <p:nvSpPr>
          <p:cNvPr id="7" name="">
            <a:extLst xmlns:a="http://schemas.openxmlformats.org/drawingml/2006/main">
              <a:ext uri="{FF2B5EF4-FFF2-40B4-BE49-F238E27FC236}">
                <a16:creationId xmlns:a16="http://schemas.microsoft.com/office/drawing/2014/main" id="{45C897BC-075E-422C-95AD-B6B08EE52B0E}"/>
              </a:ext>
            </a:extLst>
          </p:cNvPr>
          <p:cNvSpPr>
            <a:spLocks xmlns:a="http://schemas.openxmlformats.org/drawingml/2006/main" noGrp="1"/>
          </p:cNvSpPr>
          <p:nvPr/>
        </p:nvSpPr>
        <p:spPr>
          <a:xfrm xmlns:a="http://schemas.openxmlformats.org/drawingml/2006/main">
            <a:off x="649605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Get a new answer tied to that request.</a:t>
            </a:r>
          </a:p>
        </p:txBody>
      </p:sp>
      <p:sp>
        <p:nvSpPr>
          <p:cNvPr id="8" name="">
            <a:extLst xmlns:a="http://schemas.openxmlformats.org/drawingml/2006/main">
              <a:ext uri="{FF2B5EF4-FFF2-40B4-BE49-F238E27FC236}">
                <a16:creationId xmlns:a16="http://schemas.microsoft.com/office/drawing/2014/main" id="{4DE72AA6-164A-4BBD-90F4-0CC3FE4DD242}"/>
              </a:ext>
            </a:extLst>
          </p:cNvPr>
          <p:cNvSpPr>
            <a:spLocks xmlns:a="http://schemas.openxmlformats.org/drawingml/2006/main" noGrp="1"/>
          </p:cNvSpPr>
          <p:nvPr/>
        </p:nvSpPr>
        <p:spPr>
          <a:xfrm xmlns:a="http://schemas.openxmlformats.org/drawingml/2006/main">
            <a:off x="685800" y="55054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875" b="0">
                <a:solidFill>
                  <a:srgbClr val="126C97"/>
                </a:solidFill>
                <a:latin typeface="Liberation Sans"/>
                <a:ea typeface="Liberation Sans"/>
                <a:cs typeface="Liberation Sans"/>
              </a:defRPr>
            </a:pPr>
            <a:r>
              <a:rPr sz="1875" b="0">
                <a:solidFill>
                  <a:srgbClr val="126C97"/>
                </a:solidFill>
                <a:latin typeface="Liberation Sans"/>
                <a:ea typeface="Liberation Sans"/>
                <a:cs typeface="Liberation Sans"/>
              </a:rPr>
              <a:t>Value test: does the check replace a manual check or change a costly decision?</a:t>
            </a:r>
          </a:p>
        </p:txBody>
      </p:sp>
      <p:sp>
        <p:nvSpPr>
          <p:cNvPr id="9" name="">
            <a:extLst xmlns:a="http://schemas.openxmlformats.org/drawingml/2006/main">
              <a:ext uri="{FF2B5EF4-FFF2-40B4-BE49-F238E27FC236}">
                <a16:creationId xmlns:a16="http://schemas.microsoft.com/office/drawing/2014/main" id="{86B2106D-EA2A-4163-AB58-A28AD8458EE3}"/>
              </a:ext>
            </a:extLst>
          </p:cNvPr>
          <p:cNvSpPr>
            <a:spLocks xmlns:a="http://schemas.openxmlformats.org/drawingml/2006/main" noGrp="1"/>
          </p:cNvSpPr>
          <p:nvPr/>
        </p:nvSpPr>
        <p:spPr>
          <a:xfrm xmlns:a="http://schemas.openxmlformats.org/drawingml/2006/main">
            <a:off x="685800" y="627697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350" b="0">
                <a:solidFill>
                  <a:srgbClr val="536D80"/>
                </a:solidFill>
                <a:latin typeface="Liberation Sans"/>
                <a:ea typeface="Liberation Sans"/>
                <a:cs typeface="Liberation Sans"/>
              </a:defRPr>
            </a:pPr>
            <a:r>
              <a:rPr sz="1350" b="0">
                <a:solidFill>
                  <a:srgbClr val="536D80"/>
                </a:solidFill>
                <a:latin typeface="Liberation Sans"/>
                <a:ea typeface="Liberation Sans"/>
                <a:cs typeface="Liberation Sans"/>
              </a:rPr>
              <a:t>02 / Buyer and pricing remain hypotheses. An existing reliable API can be sufficient.</a:t>
            </a:r>
          </a:p>
        </p:txBody>
      </p:sp>
    </p:spTree>
    <p:extLst>
      <p:ext uri="{BB962C8B-B14F-4D97-AF65-F5344CB8AC3E}">
        <p14:creationId xmlns:p14="http://schemas.microsoft.com/office/powerpoint/2010/main" val="1041157775"/>
      </p:ext>
    </p:extLst>
  </p:cSld>
</p:sld>
</file>

<file path=ppt/slides/slide3.xml><?xml version="1.0" encoding="utf-8"?>
<p:sld xmlns:p="http://schemas.openxmlformats.org/presentationml/2006/main">
  <p:cSld>
    <p:bg>
      <p:bgPr>
        <a:solidFill xmlns:a="http://schemas.openxmlformats.org/drawingml/2006/main">
          <a:srgbClr val="F4FA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5C990A-8EF5-4541-8653-2CB0B5F7A70C}"/>
              </a:ext>
            </a:extLst>
          </p:cNvPr>
          <p:cNvSpPr>
            <a:spLocks xmlns:a="http://schemas.openxmlformats.org/drawingml/2006/main" noGrp="1"/>
          </p:cNvSpPr>
          <p:nvPr/>
        </p:nvSpPr>
        <p:spPr>
          <a:xfrm xmlns:a="http://schemas.openxmlformats.org/drawingml/2006/main">
            <a:off x="685800" y="457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450" b="1">
                <a:solidFill>
                  <a:srgbClr val="17364D"/>
                </a:solidFill>
                <a:latin typeface="Liberation Sans"/>
                <a:ea typeface="Liberation Sans"/>
                <a:cs typeface="Liberation Sans"/>
              </a:defRPr>
            </a:pPr>
            <a:r>
              <a:rPr sz="3450" b="1">
                <a:solidFill>
                  <a:srgbClr val="17364D"/>
                </a:solidFill>
                <a:latin typeface="Liberation Sans"/>
                <a:ea typeface="Liberation Sans"/>
                <a:cs typeface="Liberation Sans"/>
              </a:rPr>
              <a:t>What the prototype does</a:t>
            </a:r>
          </a:p>
        </p:txBody>
      </p:sp>
      <p:sp>
        <p:nvSpPr>
          <p:cNvPr id="2" name="">
            <a:extLst xmlns:a="http://schemas.openxmlformats.org/drawingml/2006/main">
              <a:ext uri="{FF2B5EF4-FFF2-40B4-BE49-F238E27FC236}">
                <a16:creationId xmlns:a16="http://schemas.microsoft.com/office/drawing/2014/main" id="{C939EADB-D828-4CB1-815E-B164D3570066}"/>
              </a:ext>
            </a:extLst>
          </p:cNvPr>
          <p:cNvSpPr>
            <a:spLocks xmlns:a="http://schemas.openxmlformats.org/drawingml/2006/main" noGrp="1"/>
          </p:cNvSpPr>
          <p:nvPr/>
        </p:nvSpPr>
        <p:spPr>
          <a:xfrm xmlns:a="http://schemas.openxmlformats.org/drawingml/2006/main">
            <a:off x="685800" y="1790700"/>
            <a:ext cx="501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250" b="1">
                <a:solidFill>
                  <a:srgbClr val="126C97"/>
                </a:solidFill>
                <a:latin typeface="Liberation Sans"/>
                <a:ea typeface="Liberation Sans"/>
                <a:cs typeface="Liberation Sans"/>
              </a:defRPr>
            </a:pPr>
            <a:r>
              <a:rPr sz="2250" b="1">
                <a:solidFill>
                  <a:srgbClr val="126C97"/>
                </a:solidFill>
                <a:latin typeface="Liberation Sans"/>
                <a:ea typeface="Liberation Sans"/>
                <a:cs typeface="Liberation Sans"/>
              </a:rPr>
              <a:t>1. Request a check</a:t>
            </a:r>
          </a:p>
        </p:txBody>
      </p:sp>
      <p:sp>
        <p:nvSpPr>
          <p:cNvPr id="3" name="">
            <a:extLst xmlns:a="http://schemas.openxmlformats.org/drawingml/2006/main">
              <a:ext uri="{FF2B5EF4-FFF2-40B4-BE49-F238E27FC236}">
                <a16:creationId xmlns:a16="http://schemas.microsoft.com/office/drawing/2014/main" id="{D72B06EA-86A2-4759-B497-D83D8F4BC767}"/>
              </a:ext>
            </a:extLst>
          </p:cNvPr>
          <p:cNvSpPr>
            <a:spLocks xmlns:a="http://schemas.openxmlformats.org/drawingml/2006/main" noGrp="1"/>
          </p:cNvSpPr>
          <p:nvPr/>
        </p:nvSpPr>
        <p:spPr>
          <a:xfrm xmlns:a="http://schemas.openxmlformats.org/drawingml/2006/main">
            <a:off x="685800" y="24098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025" b="0">
                <a:solidFill>
                  <a:srgbClr val="17364D"/>
                </a:solidFill>
                <a:latin typeface="Liberation Sans"/>
                <a:ea typeface="Liberation Sans"/>
                <a:cs typeface="Liberation Sans"/>
              </a:defRPr>
            </a:pPr>
            <a:r>
              <a:rPr sz="2025" b="0">
                <a:solidFill>
                  <a:srgbClr val="17364D"/>
                </a:solidFill>
                <a:latin typeface="Liberation Sans"/>
                <a:ea typeface="Liberation Sans"/>
                <a:cs typeface="Liberation Sans"/>
              </a:rPr>
              <a:t>The buyer fixes the contact question, device key, price, and ten-second age limit.</a:t>
            </a:r>
          </a:p>
        </p:txBody>
      </p:sp>
      <p:sp>
        <p:nvSpPr>
          <p:cNvPr id="4" name="">
            <a:extLst xmlns:a="http://schemas.openxmlformats.org/drawingml/2006/main">
              <a:ext uri="{FF2B5EF4-FFF2-40B4-BE49-F238E27FC236}">
                <a16:creationId xmlns:a16="http://schemas.microsoft.com/office/drawing/2014/main" id="{06E96C98-6CE3-4B49-A17F-92177986D982}"/>
              </a:ext>
            </a:extLst>
          </p:cNvPr>
          <p:cNvSpPr>
            <a:spLocks xmlns:a="http://schemas.openxmlformats.org/drawingml/2006/main" noGrp="1"/>
          </p:cNvSpPr>
          <p:nvPr/>
        </p:nvSpPr>
        <p:spPr>
          <a:xfrm xmlns:a="http://schemas.openxmlformats.org/drawingml/2006/main">
            <a:off x="6496050" y="1790700"/>
            <a:ext cx="501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250" b="1">
                <a:solidFill>
                  <a:srgbClr val="126C97"/>
                </a:solidFill>
                <a:latin typeface="Liberation Sans"/>
                <a:ea typeface="Liberation Sans"/>
                <a:cs typeface="Liberation Sans"/>
              </a:defRPr>
            </a:pPr>
            <a:r>
              <a:rPr sz="2250" b="1">
                <a:solidFill>
                  <a:srgbClr val="126C97"/>
                </a:solidFill>
                <a:latin typeface="Liberation Sans"/>
                <a:ea typeface="Liberation Sans"/>
                <a:cs typeface="Liberation Sans"/>
              </a:rPr>
              <a:t>2. Pay the operator</a:t>
            </a:r>
          </a:p>
        </p:txBody>
      </p:sp>
      <p:sp>
        <p:nvSpPr>
          <p:cNvPr id="5" name="">
            <a:extLst xmlns:a="http://schemas.openxmlformats.org/drawingml/2006/main">
              <a:ext uri="{FF2B5EF4-FFF2-40B4-BE49-F238E27FC236}">
                <a16:creationId xmlns:a16="http://schemas.microsoft.com/office/drawing/2014/main" id="{6E227CF9-EA9A-433D-8468-51B1709D845E}"/>
              </a:ext>
            </a:extLst>
          </p:cNvPr>
          <p:cNvSpPr>
            <a:spLocks xmlns:a="http://schemas.openxmlformats.org/drawingml/2006/main" noGrp="1"/>
          </p:cNvSpPr>
          <p:nvPr/>
        </p:nvSpPr>
        <p:spPr>
          <a:xfrm xmlns:a="http://schemas.openxmlformats.org/drawingml/2006/main">
            <a:off x="6496050" y="24098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025" b="0">
                <a:solidFill>
                  <a:srgbClr val="17364D"/>
                </a:solidFill>
                <a:latin typeface="Liberation Sans"/>
                <a:ea typeface="Liberation Sans"/>
                <a:cs typeface="Liberation Sans"/>
              </a:defRPr>
            </a:pPr>
            <a:r>
              <a:rPr sz="2025" b="0">
                <a:solidFill>
                  <a:srgbClr val="17364D"/>
                </a:solidFill>
                <a:latin typeface="Liberation Sans"/>
                <a:ea typeface="Liberation Sans"/>
                <a:cs typeface="Liberation Sans"/>
              </a:rPr>
              <a:t>Solana x402 settles 0.001 test USDC before measurement.</a:t>
            </a:r>
          </a:p>
        </p:txBody>
      </p:sp>
      <p:sp>
        <p:nvSpPr>
          <p:cNvPr id="6" name="">
            <a:extLst xmlns:a="http://schemas.openxmlformats.org/drawingml/2006/main">
              <a:ext uri="{FF2B5EF4-FFF2-40B4-BE49-F238E27FC236}">
                <a16:creationId xmlns:a16="http://schemas.microsoft.com/office/drawing/2014/main" id="{14545F58-6ABB-4C80-873C-E773E95D3280}"/>
              </a:ext>
            </a:extLst>
          </p:cNvPr>
          <p:cNvSpPr>
            <a:spLocks xmlns:a="http://schemas.openxmlformats.org/drawingml/2006/main" noGrp="1"/>
          </p:cNvSpPr>
          <p:nvPr/>
        </p:nvSpPr>
        <p:spPr>
          <a:xfrm xmlns:a="http://schemas.openxmlformats.org/drawingml/2006/main">
            <a:off x="685800" y="3810000"/>
            <a:ext cx="501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250" b="1">
                <a:solidFill>
                  <a:srgbClr val="126C97"/>
                </a:solidFill>
                <a:latin typeface="Liberation Sans"/>
                <a:ea typeface="Liberation Sans"/>
                <a:cs typeface="Liberation Sans"/>
              </a:defRPr>
            </a:pPr>
            <a:r>
              <a:rPr sz="2250" b="1">
                <a:solidFill>
                  <a:srgbClr val="126C97"/>
                </a:solidFill>
                <a:latin typeface="Liberation Sans"/>
                <a:ea typeface="Liberation Sans"/>
                <a:cs typeface="Liberation Sans"/>
              </a:rPr>
              <a:t>3. Measure and sign</a:t>
            </a:r>
          </a:p>
        </p:txBody>
      </p:sp>
      <p:sp>
        <p:nvSpPr>
          <p:cNvPr id="7" name="">
            <a:extLst xmlns:a="http://schemas.openxmlformats.org/drawingml/2006/main">
              <a:ext uri="{FF2B5EF4-FFF2-40B4-BE49-F238E27FC236}">
                <a16:creationId xmlns:a16="http://schemas.microsoft.com/office/drawing/2014/main" id="{A79CD3BF-D331-4A21-957B-E6E3DDE77962}"/>
              </a:ext>
            </a:extLst>
          </p:cNvPr>
          <p:cNvSpPr>
            <a:spLocks xmlns:a="http://schemas.openxmlformats.org/drawingml/2006/main" noGrp="1"/>
          </p:cNvSpPr>
          <p:nvPr/>
        </p:nvSpPr>
        <p:spPr>
          <a:xfrm xmlns:a="http://schemas.openxmlformats.org/drawingml/2006/main">
            <a:off x="685800" y="44291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025" b="0">
                <a:solidFill>
                  <a:srgbClr val="17364D"/>
                </a:solidFill>
                <a:latin typeface="Liberation Sans"/>
                <a:ea typeface="Liberation Sans"/>
                <a:cs typeface="Liberation Sans"/>
              </a:defRPr>
            </a:pPr>
            <a:r>
              <a:rPr sz="2025" b="0">
                <a:solidFill>
                  <a:srgbClr val="17364D"/>
                </a:solidFill>
                <a:latin typeface="Liberation Sans"/>
                <a:ea typeface="Liberation Sans"/>
                <a:cs typeface="Liberation Sans"/>
              </a:rPr>
              <a:t>The ESP32 reads the physical input and signs a new answer for this request.</a:t>
            </a:r>
          </a:p>
        </p:txBody>
      </p:sp>
      <p:sp>
        <p:nvSpPr>
          <p:cNvPr id="8" name="">
            <a:extLst xmlns:a="http://schemas.openxmlformats.org/drawingml/2006/main">
              <a:ext uri="{FF2B5EF4-FFF2-40B4-BE49-F238E27FC236}">
                <a16:creationId xmlns:a16="http://schemas.microsoft.com/office/drawing/2014/main" id="{B65840EE-00C9-4E8B-8C13-4901DC69D951}"/>
              </a:ext>
            </a:extLst>
          </p:cNvPr>
          <p:cNvSpPr>
            <a:spLocks xmlns:a="http://schemas.openxmlformats.org/drawingml/2006/main" noGrp="1"/>
          </p:cNvSpPr>
          <p:nvPr/>
        </p:nvSpPr>
        <p:spPr>
          <a:xfrm xmlns:a="http://schemas.openxmlformats.org/drawingml/2006/main">
            <a:off x="6496050" y="3810000"/>
            <a:ext cx="5010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250" b="1">
                <a:solidFill>
                  <a:srgbClr val="126C97"/>
                </a:solidFill>
                <a:latin typeface="Liberation Sans"/>
                <a:ea typeface="Liberation Sans"/>
                <a:cs typeface="Liberation Sans"/>
              </a:defRPr>
            </a:pPr>
            <a:r>
              <a:rPr sz="2250" b="1">
                <a:solidFill>
                  <a:srgbClr val="126C97"/>
                </a:solidFill>
                <a:latin typeface="Liberation Sans"/>
                <a:ea typeface="Liberation Sans"/>
                <a:cs typeface="Liberation Sans"/>
              </a:rPr>
              <a:t>4. Verify and decide</a:t>
            </a:r>
          </a:p>
        </p:txBody>
      </p:sp>
      <p:sp>
        <p:nvSpPr>
          <p:cNvPr id="9" name="">
            <a:extLst xmlns:a="http://schemas.openxmlformats.org/drawingml/2006/main">
              <a:ext uri="{FF2B5EF4-FFF2-40B4-BE49-F238E27FC236}">
                <a16:creationId xmlns:a16="http://schemas.microsoft.com/office/drawing/2014/main" id="{7794797A-FA9D-41A0-A69F-170A74855D43}"/>
              </a:ext>
            </a:extLst>
          </p:cNvPr>
          <p:cNvSpPr>
            <a:spLocks xmlns:a="http://schemas.openxmlformats.org/drawingml/2006/main" noGrp="1"/>
          </p:cNvSpPr>
          <p:nvPr/>
        </p:nvSpPr>
        <p:spPr>
          <a:xfrm xmlns:a="http://schemas.openxmlformats.org/drawingml/2006/main">
            <a:off x="6496050" y="44291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025" b="0">
                <a:solidFill>
                  <a:srgbClr val="17364D"/>
                </a:solidFill>
                <a:latin typeface="Liberation Sans"/>
                <a:ea typeface="Liberation Sans"/>
                <a:cs typeface="Liberation Sans"/>
              </a:defRPr>
            </a:pPr>
            <a:r>
              <a:rPr sz="2025" b="0">
                <a:solidFill>
                  <a:srgbClr val="17364D"/>
                </a:solidFill>
                <a:latin typeface="Liberation Sans"/>
                <a:ea typeface="Liberation Sans"/>
                <a:cs typeface="Liberation Sans"/>
              </a:rPr>
              <a:t>The buyer verifies the source, request, signature, and age before its next action.</a:t>
            </a:r>
          </a:p>
        </p:txBody>
      </p:sp>
      <p:sp>
        <p:nvSpPr>
          <p:cNvPr id="10" name="">
            <a:extLst xmlns:a="http://schemas.openxmlformats.org/drawingml/2006/main">
              <a:ext uri="{FF2B5EF4-FFF2-40B4-BE49-F238E27FC236}">
                <a16:creationId xmlns:a16="http://schemas.microsoft.com/office/drawing/2014/main" id="{25EE1B7B-F1CE-4E97-8B7C-CD6A86DCED08}"/>
              </a:ext>
            </a:extLst>
          </p:cNvPr>
          <p:cNvSpPr>
            <a:spLocks xmlns:a="http://schemas.openxmlformats.org/drawingml/2006/main" noGrp="1"/>
          </p:cNvSpPr>
          <p:nvPr/>
        </p:nvSpPr>
        <p:spPr>
          <a:xfrm xmlns:a="http://schemas.openxmlformats.org/drawingml/2006/main">
            <a:off x="685800" y="627697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350" b="0">
                <a:solidFill>
                  <a:srgbClr val="536D80"/>
                </a:solidFill>
                <a:latin typeface="Liberation Sans"/>
                <a:ea typeface="Liberation Sans"/>
                <a:cs typeface="Liberation Sans"/>
              </a:defRPr>
            </a:pPr>
            <a:r>
              <a:rPr sz="1350" b="0">
                <a:solidFill>
                  <a:srgbClr val="536D80"/>
                </a:solidFill>
                <a:latin typeface="Liberation Sans"/>
                <a:ea typeface="Liberation Sans"/>
                <a:cs typeface="Liberation Sans"/>
              </a:rPr>
              <a:t>03 / Both contact states fulfill the paid check. The operator receives test tokens.</a:t>
            </a:r>
          </a:p>
        </p:txBody>
      </p:sp>
    </p:spTree>
    <p:extLst>
      <p:ext uri="{BB962C8B-B14F-4D97-AF65-F5344CB8AC3E}">
        <p14:creationId xmlns:p14="http://schemas.microsoft.com/office/powerpoint/2010/main" val="311761918"/>
      </p:ext>
    </p:extLst>
  </p:cSld>
</p:sld>
</file>

<file path=ppt/slides/slide4.xml><?xml version="1.0" encoding="utf-8"?>
<p:sld xmlns:p="http://schemas.openxmlformats.org/presentationml/2006/main">
  <p:cSld>
    <p:bg>
      <p:bgPr>
        <a:solidFill xmlns:a="http://schemas.openxmlformats.org/drawingml/2006/main">
          <a:srgbClr val="F4FA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30CC44-E194-4465-9290-4ABB54D2A04B}"/>
              </a:ext>
            </a:extLst>
          </p:cNvPr>
          <p:cNvSpPr>
            <a:spLocks xmlns:a="http://schemas.openxmlformats.org/drawingml/2006/main" noGrp="1"/>
          </p:cNvSpPr>
          <p:nvPr/>
        </p:nvSpPr>
        <p:spPr>
          <a:xfrm xmlns:a="http://schemas.openxmlformats.org/drawingml/2006/main">
            <a:off x="685800" y="457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450" b="1">
                <a:solidFill>
                  <a:srgbClr val="17364D"/>
                </a:solidFill>
                <a:latin typeface="Liberation Sans"/>
                <a:ea typeface="Liberation Sans"/>
                <a:cs typeface="Liberation Sans"/>
              </a:defRPr>
            </a:pPr>
            <a:r>
              <a:rPr sz="3450" b="1">
                <a:solidFill>
                  <a:srgbClr val="17364D"/>
                </a:solidFill>
                <a:latin typeface="Liberation Sans"/>
                <a:ea typeface="Liberation Sans"/>
                <a:cs typeface="Liberation Sans"/>
              </a:rPr>
              <a:t>The evidence has limits</a:t>
            </a:r>
          </a:p>
        </p:txBody>
      </p:sp>
      <p:sp>
        <p:nvSpPr>
          <p:cNvPr id="2" name="">
            <a:extLst xmlns:a="http://schemas.openxmlformats.org/drawingml/2006/main">
              <a:ext uri="{FF2B5EF4-FFF2-40B4-BE49-F238E27FC236}">
                <a16:creationId xmlns:a16="http://schemas.microsoft.com/office/drawing/2014/main" id="{018CC3A7-E786-4CC1-9C69-74721A8FB110}"/>
              </a:ext>
            </a:extLst>
          </p:cNvPr>
          <p:cNvSpPr>
            <a:spLocks xmlns:a="http://schemas.openxmlformats.org/drawingml/2006/main" noGrp="1"/>
          </p:cNvSpPr>
          <p:nvPr/>
        </p:nvSpPr>
        <p:spPr>
          <a:xfrm xmlns:a="http://schemas.openxmlformats.org/drawingml/2006/main">
            <a:off x="68580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The buyer can verify</a:t>
            </a:r>
          </a:p>
        </p:txBody>
      </p:sp>
      <p:sp>
        <p:nvSpPr>
          <p:cNvPr id="3" name="">
            <a:extLst xmlns:a="http://schemas.openxmlformats.org/drawingml/2006/main">
              <a:ext uri="{FF2B5EF4-FFF2-40B4-BE49-F238E27FC236}">
                <a16:creationId xmlns:a16="http://schemas.microsoft.com/office/drawing/2014/main" id="{92020722-7F56-4156-80C4-3AC36EA3A367}"/>
              </a:ext>
            </a:extLst>
          </p:cNvPr>
          <p:cNvSpPr>
            <a:spLocks xmlns:a="http://schemas.openxmlformats.org/drawingml/2006/main" noGrp="1"/>
          </p:cNvSpPr>
          <p:nvPr/>
        </p:nvSpPr>
        <p:spPr>
          <a:xfrm xmlns:a="http://schemas.openxmlformats.org/drawingml/2006/main">
            <a:off x="68580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This approved device signed the answer to this request.</a:t>
            </a:r>
          </a:p>
        </p:txBody>
      </p:sp>
      <p:sp>
        <p:nvSpPr>
          <p:cNvPr id="4" name="">
            <a:extLst xmlns:a="http://schemas.openxmlformats.org/drawingml/2006/main">
              <a:ext uri="{FF2B5EF4-FFF2-40B4-BE49-F238E27FC236}">
                <a16:creationId xmlns:a16="http://schemas.microsoft.com/office/drawing/2014/main" id="{7FD7EF97-601E-4BC5-BFBA-C95FD0DD4F74}"/>
              </a:ext>
            </a:extLst>
          </p:cNvPr>
          <p:cNvSpPr>
            <a:spLocks xmlns:a="http://schemas.openxmlformats.org/drawingml/2006/main" noGrp="1"/>
          </p:cNvSpPr>
          <p:nvPr/>
        </p:nvSpPr>
        <p:spPr>
          <a:xfrm xmlns:a="http://schemas.openxmlformats.org/drawingml/2006/main">
            <a:off x="68580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An old answer fails the age policy. An edited answer fails signature verification.</a:t>
            </a:r>
          </a:p>
        </p:txBody>
      </p:sp>
      <p:sp>
        <p:nvSpPr>
          <p:cNvPr id="5" name="">
            <a:extLst xmlns:a="http://schemas.openxmlformats.org/drawingml/2006/main">
              <a:ext uri="{FF2B5EF4-FFF2-40B4-BE49-F238E27FC236}">
                <a16:creationId xmlns:a16="http://schemas.microsoft.com/office/drawing/2014/main" id="{5ED12925-5371-4E4A-BD26-D76D70D24C86}"/>
              </a:ext>
            </a:extLst>
          </p:cNvPr>
          <p:cNvSpPr>
            <a:spLocks xmlns:a="http://schemas.openxmlformats.org/drawingml/2006/main" noGrp="1"/>
          </p:cNvSpPr>
          <p:nvPr/>
        </p:nvSpPr>
        <p:spPr>
          <a:xfrm xmlns:a="http://schemas.openxmlformats.org/drawingml/2006/main">
            <a:off x="649605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The physical demonstration</a:t>
            </a:r>
          </a:p>
        </p:txBody>
      </p:sp>
      <p:sp>
        <p:nvSpPr>
          <p:cNvPr id="6" name="">
            <a:extLst xmlns:a="http://schemas.openxmlformats.org/drawingml/2006/main">
              <a:ext uri="{FF2B5EF4-FFF2-40B4-BE49-F238E27FC236}">
                <a16:creationId xmlns:a16="http://schemas.microsoft.com/office/drawing/2014/main" id="{E1B3F251-2749-4411-92C3-6B7BB2A5A262}"/>
              </a:ext>
            </a:extLst>
          </p:cNvPr>
          <p:cNvSpPr>
            <a:spLocks xmlns:a="http://schemas.openxmlformats.org/drawingml/2006/main" noGrp="1"/>
          </p:cNvSpPr>
          <p:nvPr/>
        </p:nvSpPr>
        <p:spPr>
          <a:xfrm xmlns:a="http://schemas.openxmlformats.org/drawingml/2006/main">
            <a:off x="649605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Release or hold BOOT. The contact changes between OPEN and CLOSED.</a:t>
            </a:r>
          </a:p>
        </p:txBody>
      </p:sp>
      <p:sp>
        <p:nvSpPr>
          <p:cNvPr id="7" name="">
            <a:extLst xmlns:a="http://schemas.openxmlformats.org/drawingml/2006/main">
              <a:ext uri="{FF2B5EF4-FFF2-40B4-BE49-F238E27FC236}">
                <a16:creationId xmlns:a16="http://schemas.microsoft.com/office/drawing/2014/main" id="{83E7AB47-D984-400A-B4D2-B7CAB8DCEC84}"/>
              </a:ext>
            </a:extLst>
          </p:cNvPr>
          <p:cNvSpPr>
            <a:spLocks xmlns:a="http://schemas.openxmlformats.org/drawingml/2006/main" noGrp="1"/>
          </p:cNvSpPr>
          <p:nvPr/>
        </p:nvSpPr>
        <p:spPr>
          <a:xfrm xmlns:a="http://schemas.openxmlformats.org/drawingml/2006/main">
            <a:off x="649605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The contact does not prove contents, safety, or completed work.</a:t>
            </a:r>
          </a:p>
        </p:txBody>
      </p:sp>
      <p:sp>
        <p:nvSpPr>
          <p:cNvPr id="8" name="">
            <a:extLst xmlns:a="http://schemas.openxmlformats.org/drawingml/2006/main">
              <a:ext uri="{FF2B5EF4-FFF2-40B4-BE49-F238E27FC236}">
                <a16:creationId xmlns:a16="http://schemas.microsoft.com/office/drawing/2014/main" id="{E21B37B1-E47D-447A-9F42-B4DE9184A511}"/>
              </a:ext>
            </a:extLst>
          </p:cNvPr>
          <p:cNvSpPr>
            <a:spLocks xmlns:a="http://schemas.openxmlformats.org/drawingml/2006/main" noGrp="1"/>
          </p:cNvSpPr>
          <p:nvPr/>
        </p:nvSpPr>
        <p:spPr>
          <a:xfrm xmlns:a="http://schemas.openxmlformats.org/drawingml/2006/main">
            <a:off x="685800" y="627697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350" b="0">
                <a:solidFill>
                  <a:srgbClr val="536D80"/>
                </a:solidFill>
                <a:latin typeface="Liberation Sans"/>
                <a:ea typeface="Liberation Sans"/>
                <a:cs typeface="Liberation Sans"/>
              </a:defRPr>
            </a:pPr>
            <a:r>
              <a:rPr sz="1350" b="0">
                <a:solidFill>
                  <a:srgbClr val="536D80"/>
                </a:solidFill>
                <a:latin typeface="Liberation Sans"/>
                <a:ea typeface="Liberation Sans"/>
                <a:cs typeface="Liberation Sans"/>
              </a:rPr>
              <a:t>04 / BOOT represents a contact. This software controls no door or robot.</a:t>
            </a:r>
          </a:p>
        </p:txBody>
      </p:sp>
    </p:spTree>
    <p:extLst>
      <p:ext uri="{BB962C8B-B14F-4D97-AF65-F5344CB8AC3E}">
        <p14:creationId xmlns:p14="http://schemas.microsoft.com/office/powerpoint/2010/main" val="1579757540"/>
      </p:ext>
    </p:extLst>
  </p:cSld>
</p:sld>
</file>

<file path=ppt/slides/slide5.xml><?xml version="1.0" encoding="utf-8"?>
<p:sld xmlns:p="http://schemas.openxmlformats.org/presentationml/2006/main">
  <p:cSld>
    <p:bg>
      <p:bgPr>
        <a:solidFill xmlns:a="http://schemas.openxmlformats.org/drawingml/2006/main">
          <a:srgbClr val="F4FA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24F5E4-17EC-41DD-BA2B-F5158BEA951A}"/>
              </a:ext>
            </a:extLst>
          </p:cNvPr>
          <p:cNvSpPr>
            <a:spLocks xmlns:a="http://schemas.openxmlformats.org/drawingml/2006/main" noGrp="1"/>
          </p:cNvSpPr>
          <p:nvPr/>
        </p:nvSpPr>
        <p:spPr>
          <a:xfrm xmlns:a="http://schemas.openxmlformats.org/drawingml/2006/main">
            <a:off x="685800" y="4572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3450" b="1">
                <a:solidFill>
                  <a:srgbClr val="17364D"/>
                </a:solidFill>
                <a:latin typeface="Liberation Sans"/>
                <a:ea typeface="Liberation Sans"/>
                <a:cs typeface="Liberation Sans"/>
              </a:defRPr>
            </a:pPr>
            <a:r>
              <a:rPr sz="3450" b="1">
                <a:solidFill>
                  <a:srgbClr val="17364D"/>
                </a:solidFill>
                <a:latin typeface="Liberation Sans"/>
                <a:ea typeface="Liberation Sans"/>
                <a:cs typeface="Liberation Sans"/>
              </a:rPr>
              <a:t>peaq's role and the next test</a:t>
            </a:r>
          </a:p>
        </p:txBody>
      </p:sp>
      <p:sp>
        <p:nvSpPr>
          <p:cNvPr id="2" name="">
            <a:extLst xmlns:a="http://schemas.openxmlformats.org/drawingml/2006/main">
              <a:ext uri="{FF2B5EF4-FFF2-40B4-BE49-F238E27FC236}">
                <a16:creationId xmlns:a16="http://schemas.microsoft.com/office/drawing/2014/main" id="{EDB86DF7-06DD-4D5C-9EFE-A598175D4613}"/>
              </a:ext>
            </a:extLst>
          </p:cNvPr>
          <p:cNvSpPr>
            <a:spLocks xmlns:a="http://schemas.openxmlformats.org/drawingml/2006/main" noGrp="1"/>
          </p:cNvSpPr>
          <p:nvPr/>
        </p:nvSpPr>
        <p:spPr>
          <a:xfrm xmlns:a="http://schemas.openxmlformats.org/drawingml/2006/main">
            <a:off x="68580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Solana: demonstrated</a:t>
            </a:r>
          </a:p>
        </p:txBody>
      </p:sp>
      <p:sp>
        <p:nvSpPr>
          <p:cNvPr id="3" name="">
            <a:extLst xmlns:a="http://schemas.openxmlformats.org/drawingml/2006/main">
              <a:ext uri="{FF2B5EF4-FFF2-40B4-BE49-F238E27FC236}">
                <a16:creationId xmlns:a16="http://schemas.microsoft.com/office/drawing/2014/main" id="{A2653A6F-76EB-4548-AD77-89CC759E8570}"/>
              </a:ext>
            </a:extLst>
          </p:cNvPr>
          <p:cNvSpPr>
            <a:spLocks xmlns:a="http://schemas.openxmlformats.org/drawingml/2006/main" noGrp="1"/>
          </p:cNvSpPr>
          <p:nvPr/>
        </p:nvSpPr>
        <p:spPr>
          <a:xfrm xmlns:a="http://schemas.openxmlformats.org/drawingml/2006/main">
            <a:off x="68580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Bounded Devnet payment and an original device-signed answer.</a:t>
            </a:r>
          </a:p>
        </p:txBody>
      </p:sp>
      <p:sp>
        <p:nvSpPr>
          <p:cNvPr id="4" name="">
            <a:extLst xmlns:a="http://schemas.openxmlformats.org/drawingml/2006/main">
              <a:ext uri="{FF2B5EF4-FFF2-40B4-BE49-F238E27FC236}">
                <a16:creationId xmlns:a16="http://schemas.microsoft.com/office/drawing/2014/main" id="{F4AA4F36-7F39-45F1-ABA8-E1A79CB962D8}"/>
              </a:ext>
            </a:extLst>
          </p:cNvPr>
          <p:cNvSpPr>
            <a:spLocks xmlns:a="http://schemas.openxmlformats.org/drawingml/2006/main" noGrp="1"/>
          </p:cNvSpPr>
          <p:nvPr/>
        </p:nvSpPr>
        <p:spPr>
          <a:xfrm xmlns:a="http://schemas.openxmlformats.org/drawingml/2006/main">
            <a:off x="68580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725" b="0">
                <a:solidFill>
                  <a:srgbClr val="536D80"/>
                </a:solidFill>
                <a:latin typeface="Liberation Sans"/>
                <a:ea typeface="Liberation Sans"/>
                <a:cs typeface="Liberation Sans"/>
              </a:defRPr>
            </a:pPr>
            <a:r>
              <a:rPr sz="1725" b="0">
                <a:solidFill>
                  <a:srgbClr val="536D80"/>
                </a:solidFill>
                <a:latin typeface="Liberation Sans"/>
                <a:ea typeface="Liberation Sans"/>
                <a:cs typeface="Liberation Sans"/>
              </a:rPr>
              <a:t>The public replay preserves the October 12 job and its original capture time.</a:t>
            </a:r>
          </a:p>
        </p:txBody>
      </p:sp>
      <p:sp>
        <p:nvSpPr>
          <p:cNvPr id="5" name="">
            <a:extLst xmlns:a="http://schemas.openxmlformats.org/drawingml/2006/main">
              <a:ext uri="{FF2B5EF4-FFF2-40B4-BE49-F238E27FC236}">
                <a16:creationId xmlns:a16="http://schemas.microsoft.com/office/drawing/2014/main" id="{22C798D7-7D19-415B-AC38-B83C1CE911B0}"/>
              </a:ext>
            </a:extLst>
          </p:cNvPr>
          <p:cNvSpPr>
            <a:spLocks xmlns:a="http://schemas.openxmlformats.org/drawingml/2006/main" noGrp="1"/>
          </p:cNvSpPr>
          <p:nvPr/>
        </p:nvSpPr>
        <p:spPr>
          <a:xfrm xmlns:a="http://schemas.openxmlformats.org/drawingml/2006/main">
            <a:off x="6496050" y="1809750"/>
            <a:ext cx="5010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75" b="1">
                <a:solidFill>
                  <a:srgbClr val="126C97"/>
                </a:solidFill>
                <a:latin typeface="Liberation Sans"/>
                <a:ea typeface="Liberation Sans"/>
                <a:cs typeface="Liberation Sans"/>
              </a:defRPr>
            </a:pPr>
            <a:r>
              <a:rPr sz="2175" b="1">
                <a:solidFill>
                  <a:srgbClr val="126C97"/>
                </a:solidFill>
                <a:latin typeface="Liberation Sans"/>
                <a:ea typeface="Liberation Sans"/>
                <a:cs typeface="Liberation Sans"/>
              </a:rPr>
              <a:t>peaq Agung: verified</a:t>
            </a:r>
          </a:p>
        </p:txBody>
      </p:sp>
      <p:sp>
        <p:nvSpPr>
          <p:cNvPr id="6" name="">
            <a:extLst xmlns:a="http://schemas.openxmlformats.org/drawingml/2006/main">
              <a:ext uri="{FF2B5EF4-FFF2-40B4-BE49-F238E27FC236}">
                <a16:creationId xmlns:a16="http://schemas.microsoft.com/office/drawing/2014/main" id="{BA1C4157-4CC7-4145-9603-248218084465}"/>
              </a:ext>
            </a:extLst>
          </p:cNvPr>
          <p:cNvSpPr>
            <a:spLocks xmlns:a="http://schemas.openxmlformats.org/drawingml/2006/main" noGrp="1"/>
          </p:cNvSpPr>
          <p:nvPr/>
        </p:nvSpPr>
        <p:spPr>
          <a:xfrm xmlns:a="http://schemas.openxmlformats.org/drawingml/2006/main">
            <a:off x="6496050" y="2647950"/>
            <a:ext cx="48958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A machine identity binds the offered service to its device key.</a:t>
            </a:r>
          </a:p>
        </p:txBody>
      </p:sp>
      <p:sp>
        <p:nvSpPr>
          <p:cNvPr id="7" name="">
            <a:extLst xmlns:a="http://schemas.openxmlformats.org/drawingml/2006/main">
              <a:ext uri="{FF2B5EF4-FFF2-40B4-BE49-F238E27FC236}">
                <a16:creationId xmlns:a16="http://schemas.microsoft.com/office/drawing/2014/main" id="{9156A9B7-7967-436E-A82D-BF33D4F6AADE}"/>
              </a:ext>
            </a:extLst>
          </p:cNvPr>
          <p:cNvSpPr>
            <a:spLocks xmlns:a="http://schemas.openxmlformats.org/drawingml/2006/main" noGrp="1"/>
          </p:cNvSpPr>
          <p:nvPr/>
        </p:nvSpPr>
        <p:spPr>
          <a:xfrm xmlns:a="http://schemas.openxmlformats.org/drawingml/2006/main">
            <a:off x="6496050" y="4000500"/>
            <a:ext cx="48958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2100" b="0">
                <a:solidFill>
                  <a:srgbClr val="17364D"/>
                </a:solidFill>
                <a:latin typeface="Liberation Sans"/>
                <a:ea typeface="Liberation Sans"/>
                <a:cs typeface="Liberation Sans"/>
              </a:defRPr>
            </a:pPr>
            <a:r>
              <a:rPr sz="2100" b="0">
                <a:solidFill>
                  <a:srgbClr val="17364D"/>
                </a:solidFill>
                <a:latin typeface="Liberation Sans"/>
                <a:ea typeface="Liberation Sans"/>
                <a:cs typeface="Liberation Sans"/>
              </a:rPr>
              <a:t>A finalized native Storage record links the unchanged job hash.</a:t>
            </a:r>
          </a:p>
        </p:txBody>
      </p:sp>
      <p:sp>
        <p:nvSpPr>
          <p:cNvPr id="8" name="">
            <a:extLst xmlns:a="http://schemas.openxmlformats.org/drawingml/2006/main">
              <a:ext uri="{FF2B5EF4-FFF2-40B4-BE49-F238E27FC236}">
                <a16:creationId xmlns:a16="http://schemas.microsoft.com/office/drawing/2014/main" id="{FF4D7D35-24C9-40BC-84B6-D5DE0EA65F79}"/>
              </a:ext>
            </a:extLst>
          </p:cNvPr>
          <p:cNvSpPr>
            <a:spLocks xmlns:a="http://schemas.openxmlformats.org/drawingml/2006/main" noGrp="1"/>
          </p:cNvSpPr>
          <p:nvPr/>
        </p:nvSpPr>
        <p:spPr>
          <a:xfrm xmlns:a="http://schemas.openxmlformats.org/drawingml/2006/main">
            <a:off x="685800" y="55054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875" b="0">
                <a:solidFill>
                  <a:srgbClr val="126C97"/>
                </a:solidFill>
                <a:latin typeface="Liberation Sans"/>
                <a:ea typeface="Liberation Sans"/>
                <a:cs typeface="Liberation Sans"/>
              </a:defRPr>
            </a:pPr>
            <a:r>
              <a:rPr sz="1875" b="0">
                <a:solidFill>
                  <a:srgbClr val="126C97"/>
                </a:solidFill>
                <a:latin typeface="Liberation Sans"/>
                <a:ea typeface="Liberation Sans"/>
                <a:cs typeface="Liberation Sans"/>
              </a:rPr>
              <a:t>Next: one authorized operator, one repeated question, and a comparison with its current process.</a:t>
            </a:r>
          </a:p>
        </p:txBody>
      </p:sp>
      <p:sp>
        <p:nvSpPr>
          <p:cNvPr id="9" name="">
            <a:extLst xmlns:a="http://schemas.openxmlformats.org/drawingml/2006/main">
              <a:ext uri="{FF2B5EF4-FFF2-40B4-BE49-F238E27FC236}">
                <a16:creationId xmlns:a16="http://schemas.microsoft.com/office/drawing/2014/main" id="{DCECA491-FDD6-4553-AB75-D5580F727B6B}"/>
              </a:ext>
            </a:extLst>
          </p:cNvPr>
          <p:cNvSpPr>
            <a:spLocks xmlns:a="http://schemas.openxmlformats.org/drawingml/2006/main" noGrp="1"/>
          </p:cNvSpPr>
          <p:nvPr/>
        </p:nvSpPr>
        <p:spPr>
          <a:xfrm xmlns:a="http://schemas.openxmlformats.org/drawingml/2006/main">
            <a:off x="685800" y="627697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nSpc>
                <a:spcPct val="118000"/>
              </a:lnSpc>
              <a:buNone/>
              <a:defRPr sz="1350" b="0">
                <a:solidFill>
                  <a:srgbClr val="536D80"/>
                </a:solidFill>
                <a:latin typeface="Liberation Sans"/>
                <a:ea typeface="Liberation Sans"/>
                <a:cs typeface="Liberation Sans"/>
              </a:defRPr>
            </a:pPr>
            <a:r>
              <a:rPr sz="1350" b="0">
                <a:solidFill>
                  <a:srgbClr val="536D80"/>
                </a:solidFill>
                <a:latin typeface="Liberation Sans"/>
                <a:ea typeface="Liberation Sans"/>
                <a:cs typeface="Liberation Sans"/>
              </a:rPr>
              <a:t>05 / Real Agung identity and Storage readbacks. Customer demand remains unvalidated.</a:t>
            </a:r>
          </a:p>
        </p:txBody>
      </p:sp>
    </p:spTree>
    <p:extLst>
      <p:ext uri="{BB962C8B-B14F-4D97-AF65-F5344CB8AC3E}">
        <p14:creationId xmlns:p14="http://schemas.microsoft.com/office/powerpoint/2010/main" val="3986963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FieldProof</dc:creator>
  <ns0:lastModifiedBy>FieldProof</ns0:lastModifiedBy>
  <dc:title>FieldProof: paid physical checks</dc:title>
  <ns2:created xsi:type="dcterms:W3CDTF">2026-10-12T13:04:38.7770000Z</ns2:created>
  <ns2:modified xsi:type="dcterms:W3CDTF">2026-10-12T13:04:38.7770000Z</ns2:modified>
</ns0:coreProperties>
</file>